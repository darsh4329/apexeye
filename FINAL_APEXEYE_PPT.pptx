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200"/>
        <p:guide pos="29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01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94360"/>
            <a:ext cx="10728655" cy="5623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399" y="1091438"/>
            <a:ext cx="10362895" cy="1281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1E3A8A"/>
                </a:solidFill>
                <a:latin typeface="Segoe UI" panose="020B0502040204020203"/>
              </a:rPr>
              <a:t>APEXEYE</a:t>
            </a:r>
          </a:p>
          <a:p>
            <a:pPr algn="ctr">
              <a:spcBef>
                <a:spcPts val="600"/>
              </a:spcBef>
            </a:pPr>
            <a:r>
              <a:rPr sz="2000" b="1" dirty="0">
                <a:solidFill>
                  <a:srgbClr val="2563EB"/>
                </a:solidFill>
                <a:latin typeface="Segoe UI" panose="020B0502040204020203"/>
              </a:rPr>
              <a:t>Centralized Device Monitoring and Management System</a:t>
            </a:r>
          </a:p>
          <a:p>
            <a:pPr algn="ctr">
              <a:spcBef>
                <a:spcPts val="400"/>
              </a:spcBef>
            </a:pPr>
            <a:r>
              <a:rPr sz="1300" dirty="0">
                <a:solidFill>
                  <a:srgbClr val="475569"/>
                </a:solidFill>
                <a:latin typeface="Segoe UI" panose="020B0502040204020203"/>
              </a:rPr>
              <a:t>Master–Client Endpoint Security, Surveillance &amp; Infrastructure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697480"/>
            <a:ext cx="8534095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Segoe UI" panose="020B0502040204020203"/>
              </a:rPr>
              <a:t>ONE COMMAND CENTER. MULTIPLE DEVICES. COMPLETE VISIBILITY.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383280"/>
            <a:ext cx="3962095" cy="173736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6032" rtlCol="0" anchor="ctr"/>
          <a:lstStyle/>
          <a:p>
            <a:pPr algn="ctr"/>
            <a:r>
              <a:rPr sz="1700" b="1">
                <a:solidFill>
                  <a:srgbClr val="1E3A8A"/>
                </a:solidFill>
                <a:latin typeface="Segoe UI" panose="020B0502040204020203"/>
              </a:rPr>
              <a:t>APEXEYE COMMAND CENTER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2563EB"/>
                </a:solidFill>
                <a:latin typeface="Segoe UI" panose="020B0502040204020203"/>
              </a:rPr>
              <a:t>Central Decoupled Master Engine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1E293B"/>
                </a:solidFill>
                <a:latin typeface="Segoe UI" panose="020B0502040204020203"/>
              </a:rPr>
              <a:t>REST API • Telemetry Core • Policy 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803904"/>
            <a:ext cx="7315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80160" y="3383280"/>
            <a:ext cx="210312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Segoe UI" panose="020B0502040204020203"/>
              </a:rPr>
              <a:t>Windows PC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475569"/>
                </a:solidFill>
                <a:latin typeface="Segoe UI" panose="020B0502040204020203"/>
              </a:rPr>
              <a:t>Client Agent (Win32)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946904"/>
            <a:ext cx="7315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280160" y="4526280"/>
            <a:ext cx="210312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Segoe UI" panose="020B0502040204020203"/>
              </a:rPr>
              <a:t>Linux PC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475569"/>
                </a:solidFill>
                <a:latin typeface="Segoe UI" panose="020B0502040204020203"/>
              </a:rPr>
              <a:t>Client Agent (POSIX)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6895" y="3803904"/>
            <a:ext cx="7315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08415" y="3383280"/>
            <a:ext cx="210312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Segoe UI" panose="020B0502040204020203"/>
              </a:rPr>
              <a:t>CCTV Camera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475569"/>
                </a:solidFill>
                <a:latin typeface="Segoe UI" panose="020B0502040204020203"/>
              </a:rPr>
              <a:t>RTSP Stream Probing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6895" y="4946904"/>
            <a:ext cx="7315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08415" y="4526280"/>
            <a:ext cx="210312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250" b="1">
                <a:solidFill>
                  <a:srgbClr val="0F172A"/>
                </a:solidFill>
                <a:latin typeface="Segoe UI" panose="020B0502040204020203"/>
              </a:rPr>
              <a:t>AWS Cloud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475569"/>
                </a:solidFill>
                <a:latin typeface="Segoe UI" panose="020B0502040204020203"/>
              </a:rPr>
              <a:t>EC2 &amp; CloudWatch 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596128"/>
            <a:ext cx="8534095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82296" rtlCol="0" anchor="ctr"/>
          <a:lstStyle/>
          <a:p>
            <a:pPr algn="ctr"/>
            <a:r>
              <a:rPr sz="1250" b="1">
                <a:solidFill>
                  <a:srgbClr val="1D4ED8"/>
                </a:solidFill>
                <a:latin typeface="Segoe UI" panose="020B0502040204020203"/>
              </a:rPr>
              <a:t>PROJECT BY:  </a:t>
            </a:r>
            <a:r>
              <a:rPr sz="1250" b="1">
                <a:solidFill>
                  <a:srgbClr val="0F172A"/>
                </a:solidFill>
                <a:latin typeface="Segoe UI" panose="020B0502040204020203"/>
              </a:rPr>
              <a:t>Darsh — 202302626010096   |   Vansh — 202302626010147   •   GLS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02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CHALLENGE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THE INFRASTRUCTURE VISIBILITY GAP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Before ApexEye: Uncoordinated tools and disconnected silos create critical operational blind spots.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19659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" y="1645920"/>
            <a:ext cx="1746504" cy="43891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PC-01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212848"/>
            <a:ext cx="1691640" cy="438912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 panose="020B0502040204020203"/>
              </a:rPr>
              <a:t>UNMONITORED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1783080" cy="747897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 panose="020B0502040204020203"/>
              </a:rPr>
              <a:t>No telemetry agent installed
Zero health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297680"/>
            <a:ext cx="16367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 panose="020B0502040204020203"/>
              </a:rPr>
              <a:t>✕ Fragmented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1508" y="1508760"/>
            <a:ext cx="19659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31236" y="1645920"/>
            <a:ext cx="1746504" cy="43891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PC-02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58668" y="2212848"/>
            <a:ext cx="1691640" cy="43891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100" b="1">
                <a:solidFill>
                  <a:srgbClr val="D97706"/>
                </a:solidFill>
                <a:latin typeface="Segoe UI" panose="020B0502040204020203"/>
              </a:rPr>
              <a:t>95% CPU SPIKE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2948" y="2788920"/>
            <a:ext cx="1783080" cy="963341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 panose="020B0502040204020203"/>
              </a:rPr>
              <a:t>Unchecked process runaway
Thermal throttling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86100" y="4297680"/>
            <a:ext cx="16367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 panose="020B0502040204020203"/>
              </a:rPr>
              <a:t>✕ Unchecked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1496" y="1508760"/>
            <a:ext cx="19659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221224" y="1645920"/>
            <a:ext cx="1746504" cy="43891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CCTV-04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48656" y="2212848"/>
            <a:ext cx="1691640" cy="438912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 panose="020B0502040204020203"/>
              </a:rPr>
              <a:t>STREAM OFFLINE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788920"/>
            <a:ext cx="1783080" cy="747897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 panose="020B0502040204020203"/>
              </a:rPr>
              <a:t>RTSP feed silent
Security surveillance gap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76088" y="4297680"/>
            <a:ext cx="16367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 panose="020B0502040204020203"/>
              </a:rPr>
              <a:t>✕ Blind Spot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1484" y="1508760"/>
            <a:ext cx="19659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411212" y="1645920"/>
            <a:ext cx="1746504" cy="43891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SERVER-01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38644" y="2212848"/>
            <a:ext cx="1691640" cy="43891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100" b="1">
                <a:solidFill>
                  <a:srgbClr val="D97706"/>
                </a:solidFill>
                <a:latin typeface="Segoe UI" panose="020B0502040204020203"/>
              </a:rPr>
              <a:t>NO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2924" y="2788920"/>
            <a:ext cx="1783080" cy="963341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 panose="020B0502040204020203"/>
              </a:rPr>
              <a:t>Local logs uncollected
Compliance blind spot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66076" y="4297680"/>
            <a:ext cx="16367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 panose="020B0502040204020203"/>
              </a:rPr>
              <a:t>✕ Siloed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1472" y="1508760"/>
            <a:ext cx="19659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601200" y="1645920"/>
            <a:ext cx="1746504" cy="43891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REMOTE-03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28632" y="2212848"/>
            <a:ext cx="1691640" cy="43891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100" b="1">
                <a:solidFill>
                  <a:srgbClr val="475569"/>
                </a:solidFill>
                <a:latin typeface="Segoe UI" panose="020B0502040204020203"/>
              </a:rPr>
              <a:t>UNKNOWN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2" y="2788920"/>
            <a:ext cx="1783080" cy="747897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/>
            <a:r>
              <a:rPr sz="1400">
                <a:solidFill>
                  <a:srgbClr val="1E293B"/>
                </a:solidFill>
                <a:latin typeface="Segoe UI" panose="020B0502040204020203"/>
              </a:rPr>
              <a:t>Roaming outside firewall
Drift unrecorded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56064" y="4297680"/>
            <a:ext cx="163677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 panose="020B0502040204020203"/>
              </a:rPr>
              <a:t>✕ Unmanaged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46304" rtlCol="0" anchor="ctr"/>
          <a:lstStyle/>
          <a:p>
            <a:pPr algn="ctr"/>
            <a:r>
              <a:rPr sz="1700" b="1">
                <a:solidFill>
                  <a:srgbClr val="1E3A8A"/>
                </a:solidFill>
                <a:latin typeface="Segoe UI" panose="020B0502040204020203"/>
              </a:rPr>
              <a:t>DEVICE-BY-DEVICE MANAGEMENT CREATES BLIND SPOTS.
</a:t>
            </a:r>
            <a:r>
              <a:rPr sz="1250">
                <a:solidFill>
                  <a:srgbClr val="1E293B"/>
                </a:solidFill>
                <a:latin typeface="Segoe UI" panose="020B0502040204020203"/>
              </a:rPr>
              <a:t>Without unified telemetry, administrators react to catastrophic failures instead of preventing them.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074920"/>
            <a:ext cx="16459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03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SYSTEM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ONE MASTER. MULTIPLE CLIENTS. ONE VIEW.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Decoupled architecture connecting diverse endpoint infrastructure into an authoritative single command 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417320"/>
            <a:ext cx="3962095" cy="1417320"/>
          </a:xfrm>
          <a:prstGeom prst="roundRect">
            <a:avLst/>
          </a:prstGeom>
          <a:solidFill>
            <a:srgbClr val="EFF6FF"/>
          </a:solidFill>
          <a:ln w="317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64592" rtlCol="0" anchor="ctr"/>
          <a:lstStyle/>
          <a:p>
            <a:pPr algn="ctr"/>
            <a:r>
              <a:rPr sz="2200" b="1">
                <a:solidFill>
                  <a:srgbClr val="1E3A8A"/>
                </a:solidFill>
                <a:latin typeface="Segoe UI" panose="020B0502040204020203"/>
              </a:rPr>
              <a:t>APEXEYE MASTER</a:t>
            </a:r>
          </a:p>
          <a:p>
            <a:pPr algn="ctr">
              <a:spcBef>
                <a:spcPts val="300"/>
              </a:spcBef>
            </a:pPr>
            <a:r>
              <a:rPr sz="1200">
                <a:solidFill>
                  <a:srgbClr val="2563EB"/>
                </a:solidFill>
                <a:latin typeface="Segoe UI" panose="020B0502040204020203"/>
              </a:rPr>
              <a:t>Authoritative Control Plane • REST API • SQLite WAL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148840"/>
            <a:ext cx="1737360" cy="182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783080"/>
            <a:ext cx="160020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 panose="020B0502040204020203"/>
              </a:rPr>
              <a:t>Windows Client</a:t>
            </a:r>
          </a:p>
          <a:p>
            <a:pPr algn="ctr"/>
            <a:r>
              <a:rPr sz="1000">
                <a:solidFill>
                  <a:srgbClr val="1D4ED8"/>
                </a:solidFill>
                <a:latin typeface="Segoe UI" panose="020B0502040204020203"/>
              </a:rPr>
              <a:t>Agent Daemon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783080"/>
            <a:ext cx="91440" cy="182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377440" y="1417320"/>
            <a:ext cx="160020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 panose="020B0502040204020203"/>
              </a:rPr>
              <a:t>Linux Client</a:t>
            </a:r>
          </a:p>
          <a:p>
            <a:pPr algn="ctr"/>
            <a:r>
              <a:rPr sz="1000">
                <a:solidFill>
                  <a:srgbClr val="1D4ED8"/>
                </a:solidFill>
                <a:latin typeface="Segoe UI" panose="020B0502040204020203"/>
              </a:rPr>
              <a:t>Agent Daemon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6895" y="1783080"/>
            <a:ext cx="244145" cy="182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21040" y="1417320"/>
            <a:ext cx="160020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 panose="020B0502040204020203"/>
              </a:rPr>
              <a:t>CCTV / IP Camera</a:t>
            </a:r>
          </a:p>
          <a:p>
            <a:pPr algn="ctr"/>
            <a:r>
              <a:rPr sz="1000">
                <a:solidFill>
                  <a:srgbClr val="1D4ED8"/>
                </a:solidFill>
                <a:latin typeface="Segoe UI" panose="020B0502040204020203"/>
              </a:rPr>
              <a:t>RTSP Stream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6895" y="2148840"/>
            <a:ext cx="1798625" cy="182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75520" y="1783080"/>
            <a:ext cx="160020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lang="en-IN" sz="1200" b="1">
                <a:solidFill>
                  <a:srgbClr val="0F172A"/>
                </a:solidFill>
                <a:latin typeface="Segoe UI" panose="020B0502040204020203"/>
              </a:rPr>
              <a:t>FireWall</a:t>
            </a:r>
            <a:endParaRPr sz="1200" b="1">
              <a:solidFill>
                <a:srgbClr val="0F172A"/>
              </a:solidFill>
              <a:latin typeface="Segoe UI" panose="020B0502040204020203"/>
            </a:endParaRPr>
          </a:p>
          <a:p>
            <a:pPr algn="ctr"/>
            <a:r>
              <a:rPr lang="en-IN" sz="1000">
                <a:solidFill>
                  <a:srgbClr val="1D4ED8"/>
                </a:solidFill>
                <a:latin typeface="Segoe UI" panose="020B0502040204020203"/>
              </a:rPr>
              <a:t>Inbuild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390" y="2834640"/>
            <a:ext cx="18288" cy="137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80990" y="2971800"/>
            <a:ext cx="1600200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 panose="020B0502040204020203"/>
              </a:rPr>
              <a:t>AWS Cloud</a:t>
            </a:r>
          </a:p>
          <a:p>
            <a:pPr algn="ctr"/>
            <a:r>
              <a:rPr sz="1000">
                <a:solidFill>
                  <a:srgbClr val="1D4ED8"/>
                </a:solidFill>
                <a:latin typeface="Segoe UI" panose="020B0502040204020203"/>
              </a:rPr>
              <a:t>EC2 / CloudWatch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86200"/>
            <a:ext cx="25146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4005072"/>
            <a:ext cx="2295144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400" b="1">
                <a:solidFill>
                  <a:srgbClr val="1D4ED8"/>
                </a:solidFill>
                <a:latin typeface="Segoe UI" panose="020B0502040204020203"/>
              </a:rP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62272"/>
            <a:ext cx="2240280" cy="1427057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 panose="020B0502040204020203"/>
              </a:rPr>
              <a:t>📡 Real-Time Telemetry
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egoe UI" panose="020B0502040204020203"/>
              </a:rPr>
              <a:t>Continuous tracking of CPU, RAM, Disk, Network I/O, and CCTV RTSP streams.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5576" y="3886200"/>
            <a:ext cx="25146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75304" y="4005072"/>
            <a:ext cx="2295144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400" b="1">
                <a:solidFill>
                  <a:srgbClr val="1D4ED8"/>
                </a:solidFill>
                <a:latin typeface="Segoe UI" panose="020B0502040204020203"/>
              </a:rPr>
              <a:t>ANALYZE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4462272"/>
            <a:ext cx="2240280" cy="1642501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 panose="020B0502040204020203"/>
              </a:rPr>
              <a:t>🧠 Intelligent Insights
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egoe UI" panose="020B0502040204020203"/>
              </a:rPr>
              <a:t>Logical process grouping: 15 PIDs ➔ 1 App ➔ 1 Event. Subprocess churn suppressed; zero keylogging.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886200"/>
            <a:ext cx="25146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09360" y="4005072"/>
            <a:ext cx="2295144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400" b="1">
                <a:solidFill>
                  <a:srgbClr val="1D4ED8"/>
                </a:solidFill>
                <a:latin typeface="Segoe UI" panose="020B0502040204020203"/>
              </a:rPr>
              <a:t>MANAGE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462272"/>
            <a:ext cx="2240280" cy="1427057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 panose="020B0502040204020203"/>
              </a:rPr>
              <a:t>🛡️ Active Policy Control
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egoe UI" panose="020B0502040204020203"/>
              </a:rPr>
              <a:t>Zero-MITM website filtering, TLS SNI blocking, and authenticated remote diagnostics.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33688" y="3886200"/>
            <a:ext cx="25146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43416" y="4005072"/>
            <a:ext cx="2295144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400" b="1">
                <a:solidFill>
                  <a:srgbClr val="1D4ED8"/>
                </a:solidFill>
                <a:latin typeface="Segoe UI" panose="020B0502040204020203"/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4462272"/>
            <a:ext cx="2240280" cy="1427057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 panose="020B0502040204020203"/>
              </a:rPr>
              <a:t>📊 Executive Auditing
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egoe UI" panose="020B0502040204020203"/>
              </a:rPr>
              <a:t>Forensic SQLite WAL logs and automated multi-page executive PDF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04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MARKET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WHY APEXEYE?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Enterprise visibility without invading user privacy — benchmarked against commercial solutions.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417320"/>
          <a:ext cx="75895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3A8A"/>
                          </a:solidFill>
                          <a:latin typeface="Segoe UI" panose="020B0502040204020203"/>
                        </a:rPr>
                        <a:t>CAPABILITY / ATTRIBUTE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 panose="020B0502040204020203"/>
                        </a:rPr>
                        <a:t>★ APEXEYE</a:t>
                      </a:r>
                    </a:p>
                  </a:txBody>
                  <a:tcPr marL="73152" marR="73152" marT="36576" marB="36576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3A8A"/>
                          </a:solidFill>
                          <a:latin typeface="Segoe UI" panose="020B0502040204020203"/>
                        </a:rPr>
                        <a:t>MS INTUNE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E3A8A"/>
                          </a:solidFill>
                          <a:latin typeface="Segoe UI" panose="020B0502040204020203"/>
                        </a:rPr>
                        <a:t>TERAMIND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Primary Architecture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4ED8"/>
                          </a:solidFill>
                          <a:latin typeface="Segoe UI" panose="020B0502040204020203"/>
                        </a:rPr>
                        <a:t>Endpoint Health + Sec + Infra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MDM / Cloud Fleet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Workforce Monitoring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Hardware Health (CPU/RAM/Disk)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4ED8"/>
                          </a:solidFill>
                          <a:latin typeface="Segoe UI" panose="020B0502040204020203"/>
                        </a:rPr>
                        <a:t>✓ Comprehensive Telemetry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✓ Basic OS Metrics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— Activity Focus Only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Application Lifecycle Tracking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4ED8"/>
                          </a:solidFill>
                          <a:latin typeface="Segoe UI" panose="020B0502040204020203"/>
                        </a:rPr>
                        <a:t>✓ Aggregated Window HWND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— Inventory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✓ Keystrokes &amp; Screencast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DC2626"/>
                          </a:solidFill>
                          <a:latin typeface="Segoe UI" panose="020B0502040204020203"/>
                        </a:rPr>
                        <a:t>User Privacy Boundaries</a:t>
                      </a:r>
                    </a:p>
                  </a:txBody>
                  <a:tcPr marL="73152" marR="73152" marT="36576" marB="36576"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9488"/>
                          </a:solidFill>
                          <a:latin typeface="Segoe UI" panose="020B0502040204020203"/>
                        </a:rPr>
                        <a:t>★ ZERO SURVEILLANCE GUARANTEE</a:t>
                      </a:r>
                    </a:p>
                  </a:txBody>
                  <a:tcPr marL="73152" marR="73152" marT="36576" marB="36576"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D9488"/>
                          </a:solidFill>
                          <a:latin typeface="Segoe UI" panose="020B0502040204020203"/>
                        </a:rPr>
                        <a:t>✓ Compliant MDM</a:t>
                      </a:r>
                    </a:p>
                  </a:txBody>
                  <a:tcPr marL="73152" marR="73152" marT="36576" marB="36576"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Segoe UI" panose="020B0502040204020203"/>
                        </a:rPr>
                        <a:t>— Full Snooping Risk</a:t>
                      </a:r>
                    </a:p>
                  </a:txBody>
                  <a:tcPr marL="73152" marR="73152" marT="36576" marB="36576" anchor="ctr"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Local Website Filtering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4ED8"/>
                          </a:solidFill>
                          <a:latin typeface="Segoe UI" panose="020B0502040204020203"/>
                        </a:rPr>
                        <a:t>✓ Native Host Policy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— Cloud Proxy Dependent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✓ Local Hook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HTTPS Inspection Method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4ED8"/>
                          </a:solidFill>
                          <a:latin typeface="Segoe UI" panose="020B0502040204020203"/>
                        </a:rPr>
                        <a:t>✓ Zero-MITM Plaintext SNI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— Endpoint Tunnel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— Full Root CA Decrypt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Cross-Platform Operating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4ED8"/>
                          </a:solidFill>
                          <a:latin typeface="Segoe UI" panose="020B0502040204020203"/>
                        </a:rPr>
                        <a:t>✓ Windows + Linux Parity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— Windows-First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— Win / Mac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Database &amp; Data Sovereignty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4ED8"/>
                          </a:solidFill>
                          <a:latin typeface="Segoe UI" panose="020B0502040204020203"/>
                        </a:rPr>
                        <a:t>✓ 100% Local SQLite WAL</a:t>
                      </a:r>
                    </a:p>
                  </a:txBody>
                  <a:tcPr marL="73152" marR="73152" marT="36576" marB="36576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— Microsoft Cloud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Segoe UI" panose="020B0502040204020203"/>
                        </a:rPr>
                        <a:t>— Vendor SaaS Cloud</a:t>
                      </a:r>
                    </a:p>
                  </a:txBody>
                  <a:tcPr marL="73152" marR="73152" marT="36576" marB="36576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503920" y="1417320"/>
            <a:ext cx="2956255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41080" y="1554480"/>
            <a:ext cx="2681935" cy="38404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 panose="020B0502040204020203"/>
              </a:rPr>
              <a:t>THE APEXEYE FORMULA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2057400"/>
            <a:ext cx="2681935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150" b="1">
                <a:solidFill>
                  <a:srgbClr val="1D4ED8"/>
                </a:solidFill>
                <a:latin typeface="Segoe UI" panose="020B0502040204020203"/>
              </a:rPr>
              <a:t>ENDPOINT VISIBILITY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Hardware signals + CCTV streams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834640"/>
            <a:ext cx="2681935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150" b="1">
                <a:solidFill>
                  <a:srgbClr val="1D4ED8"/>
                </a:solidFill>
                <a:latin typeface="Segoe UI" panose="020B0502040204020203"/>
              </a:rPr>
              <a:t>SECURITY ENFORCEMENT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Zero-MITM website filtering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3611880"/>
            <a:ext cx="2681935" cy="65836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150" b="1">
                <a:solidFill>
                  <a:srgbClr val="0D9488"/>
                </a:solidFill>
                <a:latin typeface="Segoe UI" panose="020B0502040204020203"/>
              </a:rPr>
              <a:t>PRIVACY-PRESERVING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★ Zero keystrokes or snooping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389120"/>
            <a:ext cx="2681935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150" b="1">
                <a:solidFill>
                  <a:srgbClr val="1D4ED8"/>
                </a:solidFill>
                <a:latin typeface="Segoe UI" panose="020B0502040204020203"/>
              </a:rPr>
              <a:t>CENTRALIZED CONTROL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Unified multi-device master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04688"/>
            <a:ext cx="10728655" cy="71323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sz="1700" b="1">
                <a:solidFill>
                  <a:srgbClr val="1E3A8A"/>
                </a:solidFill>
                <a:latin typeface="Segoe UI" panose="020B0502040204020203"/>
              </a:rPr>
              <a:t>VISIBILITY WITHOUT INVADING USER PRIVACY.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05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PRIVACY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SECURITY WITHOUT SURVEILLANCE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Definitive architectural boundaries guaranteeing corporate compliance without employee surveillance.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16636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691640"/>
            <a:ext cx="4800600" cy="457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1D4ED8"/>
                </a:solidFill>
                <a:latin typeface="Segoe UI" panose="020B0502040204020203"/>
              </a:rPr>
              <a:t>✓  WHAT APEXEYE MONITORS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6771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✓ Hardware Signals: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CPU utilization %, RAM allocation %, Disk I/O, Network Throughput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6207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✓ Device Liveness: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3-second cryptographic heartbeat &amp; operational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5643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✓ Application Lifecycle: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Window title HWND validation &amp; logical app group start/stop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5079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✓ Firewall Events: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Blocked domain hits and policy tamper attempts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4515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✓ CCTV Connectivity: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RTSP stream availability, ping latency, and frame 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508760"/>
            <a:ext cx="516636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73952" y="1691640"/>
            <a:ext cx="4800600" cy="4572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DC2626"/>
                </a:solidFill>
                <a:latin typeface="Segoe UI" panose="020B0502040204020203"/>
              </a:rPr>
              <a:t>✕  WHAT APEXEYE DOES NOT COLLECT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26771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Segoe UI" panose="020B0502040204020203"/>
              </a:rPr>
              <a:t>✕ NO Keystrokes: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Zero keylogging hooks; passwords and chats never captured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86207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Segoe UI" panose="020B0502040204020203"/>
              </a:rPr>
              <a:t>✕ NO Screen Captures: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Zero continuous desktop recording or snooping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45643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Segoe UI" panose="020B0502040204020203"/>
              </a:rPr>
              <a:t>✕ NO Clipboard Scraping: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Zero access to copied text, tokens, or 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5079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Segoe UI" panose="020B0502040204020203"/>
              </a:rPr>
              <a:t>✕ NO Document Contents: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Files, emails, and local drives are strictly untouched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45152"/>
            <a:ext cx="4617720" cy="54864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Segoe UI" panose="020B0502040204020203"/>
              </a:rPr>
              <a:t>✕ NO Private Browsing History: </a:t>
            </a:r>
            <a:r>
              <a:rPr sz="1150">
                <a:solidFill>
                  <a:srgbClr val="1E293B"/>
                </a:solidFill>
                <a:latin typeface="Segoe UI" panose="020B0502040204020203"/>
              </a:rPr>
              <a:t>Unblocked URLs and web payloads are never recorded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5532120"/>
            <a:ext cx="3596335" cy="62179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 panose="020B0502040204020203"/>
              </a:rPr>
              <a:t>METADATA  ≠  SURVEILLANCE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06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OPERATIONAL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HOW APEXEYE WORKS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Deterministic 7-stage end-to-end telemetry and enforcement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00200"/>
            <a:ext cx="1353312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3856" y="1783080"/>
            <a:ext cx="585216" cy="5852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 panose="020B0502040204020203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450592"/>
            <a:ext cx="1316736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Segoe UI" panose="020B0502040204020203"/>
              </a:rP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944368"/>
            <a:ext cx="1243584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Admin adds device in Master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Generates Unique ID &amp; SHA-256 Token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30552" y="320040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304288" y="1600200"/>
            <a:ext cx="1353312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688336" y="1783080"/>
            <a:ext cx="585216" cy="5852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 panose="020B0502040204020203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2576" y="2450592"/>
            <a:ext cx="1316736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Segoe UI" panose="020B0502040204020203"/>
              </a:rPr>
              <a:t>PAIR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2944368"/>
            <a:ext cx="1243584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Client Agent authenticates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Mutual handshake over REST API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685032" y="320040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58768" y="1600200"/>
            <a:ext cx="1353312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242816" y="1783080"/>
            <a:ext cx="585216" cy="5852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 panose="020B0502040204020203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2450592"/>
            <a:ext cx="1316736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Segoe UI" panose="020B0502040204020203"/>
              </a:rPr>
              <a:t>COLLECT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2944368"/>
            <a:ext cx="1243584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Telemetry &amp; event harvest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CPU, RAM, Disk, Apps &amp; Firewall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39512" y="320040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13248" y="1600200"/>
            <a:ext cx="1353312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797296" y="1783080"/>
            <a:ext cx="585216" cy="5852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 panose="020B0502040204020203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2450592"/>
            <a:ext cx="1316736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Segoe UI" panose="020B0502040204020203"/>
              </a:rPr>
              <a:t>TRANSMIT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112" y="2944368"/>
            <a:ext cx="1243584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Encrypted communication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Payload dispatch over TCP :9100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793992" y="320040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967728" y="1600200"/>
            <a:ext cx="1353312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351776" y="1783080"/>
            <a:ext cx="585216" cy="5852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 panose="020B0502040204020203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6016" y="2450592"/>
            <a:ext cx="1316736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Segoe UI" panose="020B0502040204020203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2944368"/>
            <a:ext cx="1243584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Master validates &amp; logs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Stored in SQLite WAL database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348472" y="320040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522208" y="1600200"/>
            <a:ext cx="1353312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906256" y="1783080"/>
            <a:ext cx="585216" cy="5852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 panose="020B0502040204020203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2450592"/>
            <a:ext cx="1316736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Segoe UI" panose="020B0502040204020203"/>
              </a:rPr>
              <a:t>ANALYZE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2944368"/>
            <a:ext cx="1243584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Health scoring &amp; AI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0-100 composite index computation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902952" y="320040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076688" y="1600200"/>
            <a:ext cx="1353312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460736" y="1783080"/>
            <a:ext cx="585216" cy="585216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 panose="020B0502040204020203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4976" y="2450592"/>
            <a:ext cx="1316736" cy="4572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400" b="1">
                <a:solidFill>
                  <a:srgbClr val="1E3A8A"/>
                </a:solidFill>
                <a:latin typeface="Segoe UI" panose="020B0502040204020203"/>
              </a:rPr>
              <a:t>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552" y="2944368"/>
            <a:ext cx="1243584" cy="18288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Remediation &amp; alerts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Dispatches commands &amp; PDF 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440680"/>
            <a:ext cx="10728655" cy="71323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46304" rtlCol="0" anchor="ctr"/>
          <a:lstStyle/>
          <a:p>
            <a:pPr algn="ctr"/>
            <a:r>
              <a:rPr sz="1450" b="1">
                <a:solidFill>
                  <a:srgbClr val="1D4ED8"/>
                </a:solidFill>
                <a:latin typeface="Segoe UI" panose="020B0502040204020203"/>
              </a:rPr>
              <a:t>DEVICE  ➔  CLIENT  ➔  NETWORK  ➔  MASTER  ➔  DATABASE  ➔  ANALYSIS  ➔ 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07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TECHNICAL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System Architecture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Decoupled Master–Client architecture with secure network protocol and multi-endpoint telemetry.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371600"/>
            <a:ext cx="8168335" cy="1874519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3120" y="1417320"/>
            <a:ext cx="7985455" cy="32004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1700" b="1">
                <a:solidFill>
                  <a:srgbClr val="1D4ED8"/>
                </a:solidFill>
                <a:latin typeface="Segoe UI" panose="020B0502040204020203"/>
              </a:rPr>
              <a:t>APEXEYE MASTER COMMAND CENTER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78308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Segoe UI" panose="020B0502040204020203"/>
              </a:rPr>
              <a:t>Central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78308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Segoe UI" panose="020B0502040204020203"/>
              </a:rPr>
              <a:t>Logging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78308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Segoe UI" panose="020B0502040204020203"/>
              </a:rPr>
              <a:t>Remote Command 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51460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Segoe UI" panose="020B0502040204020203"/>
              </a:rPr>
              <a:t>PDF Report Generator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14600"/>
            <a:ext cx="2377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450" b="1">
                <a:solidFill>
                  <a:srgbClr val="0F172A"/>
                </a:solidFill>
                <a:latin typeface="Segoe UI" panose="020B0502040204020203"/>
              </a:rPr>
              <a:t>AI Analysis Service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003950" y="3246120"/>
            <a:ext cx="182880" cy="228600"/>
          </a:xfrm>
          <a:prstGeom prst="downArrow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493008"/>
            <a:ext cx="10728655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SECURE MASTER–CLIENT NETWORK COMMUNICATION PROTOCOL (TCP / TLS / SOCKETS)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901952" y="4096512"/>
            <a:ext cx="164592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1520" y="4315968"/>
            <a:ext cx="249905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Segoe UI" panose="020B0502040204020203"/>
              </a:rPr>
              <a:t>Client </a:t>
            </a:r>
            <a:r>
              <a:rPr lang="en-IN" sz="1400" b="1">
                <a:solidFill>
                  <a:srgbClr val="0F172A"/>
                </a:solidFill>
                <a:latin typeface="Segoe UI" panose="020B0502040204020203"/>
              </a:rPr>
              <a:t>-</a:t>
            </a:r>
            <a:r>
              <a:rPr sz="1400" b="1">
                <a:solidFill>
                  <a:srgbClr val="0F172A"/>
                </a:solidFill>
                <a:latin typeface="Segoe UI" panose="020B0502040204020203"/>
              </a:rPr>
              <a:t>Windows</a:t>
            </a:r>
            <a:r>
              <a:rPr lang="en-IN" sz="1400" b="1">
                <a:solidFill>
                  <a:srgbClr val="0F172A"/>
                </a:solidFill>
                <a:latin typeface="Segoe UI" panose="020B0502040204020203"/>
              </a:rPr>
              <a:t>/Linux</a:t>
            </a:r>
            <a:r>
              <a:rPr sz="1400" b="1">
                <a:solidFill>
                  <a:srgbClr val="0F172A"/>
                </a:solidFill>
                <a:latin typeface="Segoe UI" panose="020B0502040204020203"/>
              </a:rPr>
              <a:t> PC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Windows</a:t>
            </a:r>
            <a:r>
              <a:rPr lang="en-IN" sz="1200">
                <a:solidFill>
                  <a:srgbClr val="1E293B"/>
                </a:solidFill>
                <a:latin typeface="Segoe UI" panose="020B0502040204020203"/>
              </a:rPr>
              <a:t>/Linux</a:t>
            </a:r>
            <a:r>
              <a:rPr sz="1200">
                <a:solidFill>
                  <a:srgbClr val="1E293B"/>
                </a:solidFill>
                <a:latin typeface="Segoe UI" panose="020B0502040204020203"/>
              </a:rPr>
              <a:t> 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Client Agent Installed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System Telemetry &amp; Logs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15968"/>
            <a:ext cx="2499055" cy="7315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4645152" y="4096512"/>
            <a:ext cx="164592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474720" y="4315968"/>
            <a:ext cx="249905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tlCol="0" anchor="ctr"/>
          <a:lstStyle/>
          <a:p>
            <a:pPr algn="ctr"/>
            <a:r>
              <a:rPr lang="en-IN" sz="1400" b="1">
                <a:solidFill>
                  <a:srgbClr val="0F172A"/>
                </a:solidFill>
                <a:latin typeface="Segoe UI" panose="020B0502040204020203"/>
              </a:rPr>
              <a:t>FIREWALL</a:t>
            </a:r>
            <a:endParaRPr sz="1400" b="1">
              <a:solidFill>
                <a:srgbClr val="0F172A"/>
              </a:solidFill>
              <a:latin typeface="Segoe UI" panose="020B0502040204020203"/>
            </a:endParaRPr>
          </a:p>
          <a:p>
            <a:pPr>
              <a:spcBef>
                <a:spcPts val="400"/>
              </a:spcBef>
            </a:pPr>
            <a:endParaRPr lang="en-IN" sz="1200">
              <a:solidFill>
                <a:srgbClr val="1E293B"/>
              </a:solidFill>
              <a:latin typeface="Segoe UI" panose="020B0502040204020203"/>
            </a:endParaRPr>
          </a:p>
          <a:p>
            <a:pPr>
              <a:spcBef>
                <a:spcPts val="400"/>
              </a:spcBef>
            </a:pPr>
            <a:r>
              <a:rPr lang="en-IN" sz="1200">
                <a:solidFill>
                  <a:srgbClr val="1E293B"/>
                </a:solidFill>
                <a:latin typeface="Segoe UI" panose="020B0502040204020203"/>
              </a:rPr>
              <a:t>Inbuild</a:t>
            </a:r>
            <a:endParaRPr sz="1200">
              <a:solidFill>
                <a:srgbClr val="1E293B"/>
              </a:solidFill>
              <a:latin typeface="Segoe UI" panose="020B0502040204020203"/>
            </a:endParaRPr>
          </a:p>
          <a:p>
            <a:pPr>
              <a:spcBef>
                <a:spcPts val="400"/>
              </a:spcBef>
            </a:pPr>
            <a:r>
              <a:rPr lang="en-IN" sz="1200">
                <a:solidFill>
                  <a:srgbClr val="1E293B"/>
                </a:solidFill>
                <a:latin typeface="Segoe UI" panose="020B0502040204020203"/>
              </a:rPr>
              <a:t>FireWall</a:t>
            </a:r>
            <a:r>
              <a:rPr sz="1200">
                <a:solidFill>
                  <a:srgbClr val="1E293B"/>
                </a:solidFill>
                <a:latin typeface="Segoe UI" panose="020B0502040204020203"/>
              </a:rPr>
              <a:t> Log</a:t>
            </a:r>
            <a:r>
              <a:rPr lang="en-IN" sz="1200">
                <a:solidFill>
                  <a:srgbClr val="1E293B"/>
                </a:solidFill>
                <a:latin typeface="Segoe UI" panose="020B0502040204020203"/>
              </a:rPr>
              <a:t>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315968"/>
            <a:ext cx="2499055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7388352" y="4096512"/>
            <a:ext cx="164592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4315968"/>
            <a:ext cx="249905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Segoe UI" panose="020B0502040204020203"/>
              </a:rPr>
              <a:t>CCTV 1 — IP Camera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IP Camera Stream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RTSP / Health Stream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Status &amp; Storage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315968"/>
            <a:ext cx="2499055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wn Arrow 27"/>
          <p:cNvSpPr/>
          <p:nvPr/>
        </p:nvSpPr>
        <p:spPr>
          <a:xfrm>
            <a:off x="10131552" y="4096512"/>
            <a:ext cx="164592" cy="20116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61120" y="4315968"/>
            <a:ext cx="2499055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46304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Segoe UI" panose="020B0502040204020203"/>
              </a:rPr>
              <a:t>AWS Cloud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Cloud Infrastructure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AWS EC2 Instances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CloudWatch Metric Sync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4315968"/>
            <a:ext cx="2499055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08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HEALTH SCORING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FROM RAW SIGNALS TO DEVICE HEALTH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Multi-parameter aggregation converting continuous hardware metrics into discrete operational health states.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43891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600200"/>
            <a:ext cx="40233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300" b="1">
                <a:solidFill>
                  <a:srgbClr val="1D4ED8"/>
                </a:solidFill>
                <a:latin typeface="Segoe UI" panose="020B0502040204020203"/>
              </a:rPr>
              <a:t>SIGNAL INGESTION &amp;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103120"/>
            <a:ext cx="40233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1. INPUT SIGNALS
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CPU % • RAM % • Disk Space • Network I/O • App Events • CCTV RTSP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017520" y="2761488"/>
            <a:ext cx="128016" cy="10972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880360"/>
            <a:ext cx="40233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2. PROCESSING ENGINES
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Telemetry Engine • Presence Monitor • Event Engine • 0-100 Algorithm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017520" y="3538728"/>
            <a:ext cx="128016" cy="10972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402336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3. EVALUATION MATRIX
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Composite Weighting: 35% CPU + 25% RAM + 20% Disk + 20% Net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017520" y="4315968"/>
            <a:ext cx="128016" cy="109728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434840"/>
            <a:ext cx="4023360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D4ED8"/>
                </a:solidFill>
                <a:latin typeface="Segoe UI" panose="020B0502040204020203"/>
              </a:rPr>
              <a:t>4. DISCRETE OUTPUTS
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ONLINE (Healthy) • WARNING (Degraded) • HIGH RISK (Critical) • OFFLINE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230368"/>
            <a:ext cx="4023360" cy="62179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000" b="1">
                <a:solidFill>
                  <a:srgbClr val="1D4ED8"/>
                </a:solidFill>
                <a:latin typeface="Segoe UI" panose="020B0502040204020203"/>
              </a:rPr>
              <a:t>★ APPLICATION INTELLIGENCE: 15 PIDs ➔ 1 APP ➔ 1 EVENT
</a:t>
            </a:r>
            <a:r>
              <a:rPr sz="850">
                <a:solidFill>
                  <a:srgbClr val="1E293B"/>
                </a:solidFill>
                <a:latin typeface="Segoe UI" panose="020B0502040204020203"/>
              </a:rPr>
              <a:t>Subprocess churn suppressed • Zero keylogging • Zero screen snooping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6672" y="1463040"/>
            <a:ext cx="608076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559552" y="1600200"/>
            <a:ext cx="5715000" cy="41148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 panose="020B0502040204020203"/>
              </a:rPr>
              <a:t>FLEET HEALTH CONSOLE</a:t>
            </a:r>
            <a:r>
              <a:rPr sz="1100">
                <a:solidFill>
                  <a:srgbClr val="DBEAFE"/>
                </a:solidFill>
                <a:latin typeface="Segoe UI" panose="020B0502040204020203"/>
              </a:rPr>
              <a:t>  (Live Telemetry Matrix)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9552" y="2148840"/>
            <a:ext cx="1024128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 panose="020B0502040204020203"/>
              </a:rPr>
              <a:t>14
</a:t>
            </a:r>
            <a:r>
              <a:rPr sz="900" b="1">
                <a:solidFill>
                  <a:srgbClr val="475569"/>
                </a:solidFill>
                <a:latin typeface="Segoe UI" panose="020B0502040204020203"/>
              </a:rPr>
              <a:t>TOTAL DEVICES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02552" y="2148840"/>
            <a:ext cx="1024128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800" b="1">
                <a:solidFill>
                  <a:srgbClr val="0D9488"/>
                </a:solidFill>
                <a:latin typeface="Segoe UI" panose="020B0502040204020203"/>
              </a:rPr>
              <a:t>12
</a:t>
            </a:r>
            <a:r>
              <a:rPr sz="900" b="1">
                <a:solidFill>
                  <a:srgbClr val="475569"/>
                </a:solidFill>
                <a:latin typeface="Segoe UI" panose="020B0502040204020203"/>
              </a:rPr>
              <a:t>ONLINE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2148840"/>
            <a:ext cx="1024128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800" b="1">
                <a:solidFill>
                  <a:srgbClr val="DC2626"/>
                </a:solidFill>
                <a:latin typeface="Segoe UI" panose="020B0502040204020203"/>
              </a:rPr>
              <a:t>2
</a:t>
            </a:r>
            <a:r>
              <a:rPr sz="900" b="1">
                <a:solidFill>
                  <a:srgbClr val="475569"/>
                </a:solidFill>
                <a:latin typeface="Segoe UI" panose="020B0502040204020203"/>
              </a:rPr>
              <a:t>OFFLINE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88552" y="2148840"/>
            <a:ext cx="1024128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800" b="1">
                <a:solidFill>
                  <a:srgbClr val="D97706"/>
                </a:solidFill>
                <a:latin typeface="Segoe UI" panose="020B0502040204020203"/>
              </a:rPr>
              <a:t>2
</a:t>
            </a:r>
            <a:r>
              <a:rPr sz="900" b="1">
                <a:solidFill>
                  <a:srgbClr val="475569"/>
                </a:solidFill>
                <a:latin typeface="Segoe UI" panose="020B0502040204020203"/>
              </a:rPr>
              <a:t>HIGH 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31552" y="2148840"/>
            <a:ext cx="1024128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800" b="1">
                <a:solidFill>
                  <a:srgbClr val="1D4ED8"/>
                </a:solidFill>
                <a:latin typeface="Segoe UI" panose="020B0502040204020203"/>
              </a:rPr>
              <a:t>4
</a:t>
            </a:r>
            <a:r>
              <a:rPr sz="900" b="1">
                <a:solidFill>
                  <a:srgbClr val="475569"/>
                </a:solidFill>
                <a:latin typeface="Segoe UI" panose="020B0502040204020203"/>
              </a:rPr>
              <a:t>CCTV ACTIVE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559552" y="3063240"/>
          <a:ext cx="571500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3A8A"/>
                          </a:solidFill>
                          <a:latin typeface="Segoe UI" panose="020B0502040204020203"/>
                        </a:rPr>
                        <a:t>HOSTNAME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3A8A"/>
                          </a:solidFill>
                          <a:latin typeface="Segoe UI" panose="020B0502040204020203"/>
                        </a:rPr>
                        <a:t>HEALTH SCORE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3A8A"/>
                          </a:solidFill>
                          <a:latin typeface="Segoe UI" panose="020B0502040204020203"/>
                        </a:rPr>
                        <a:t>CPU / RAM LOAD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3A8A"/>
                          </a:solidFill>
                          <a:latin typeface="Segoe UI" panose="020B0502040204020203"/>
                        </a:rPr>
                        <a:t>OPERATIONAL STATE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PC-LAB-01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88 / 100 (Optimal)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CPU 24% | RAM 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D9488"/>
                          </a:solidFill>
                          <a:latin typeface="Segoe UI" panose="020B0502040204020203"/>
                        </a:rPr>
                        <a:t>● ONLINE (Healthy)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PC-LAB-02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34 / 100 (Critical)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CPU 94% | RAM 88%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DC2626"/>
                          </a:solidFill>
                          <a:latin typeface="Segoe UI" panose="020B0502040204020203"/>
                        </a:rPr>
                        <a:t>● HIGH RISK (Spike)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3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CCTV-MAIN-01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100 / 100 (Active)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 panose="020B0502040204020203"/>
                        </a:rPr>
                        <a:t>Ping 4ms | 25 FPS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D9488"/>
                          </a:solidFill>
                          <a:latin typeface="Segoe UI" panose="020B0502040204020203"/>
                        </a:rPr>
                        <a:t>● ONLINE (Streaming)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09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NETWORK &amp; FIREWALL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WEBSITE BLOCKING WITHOUT SSL MITM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Native transport-layer policy enforcement preserving complete end-to-end cryptographic privacy.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25146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HOSTS FILE REDIRECT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Loopback redirection for known unencrypted HTTP domain queries.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417320"/>
            <a:ext cx="25146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LOOPBACK PROXY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Local user-space listener serving instant 403 Forbidden alert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17320"/>
            <a:ext cx="25146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TLS SNI INSPECTOR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Reads plaintext Server Name Indication during ClientHello handshake.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417320"/>
            <a:ext cx="25146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NATIVE FIREWALL
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 panose="020B0502040204020203"/>
              </a:rPr>
              <a:t>Platform packet filtering blocking UDP 443 / QUIC bypass vectors.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1072865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65176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E3A8A"/>
                </a:solidFill>
                <a:latin typeface="Segoe UI" panose="020B0502040204020203"/>
              </a:rPr>
              <a:t>HTTPS POLICY ENFORCEMENT FLOW (TRANSPORT LAYER)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63240"/>
            <a:ext cx="192024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1. BROWSER
</a:t>
            </a:r>
          </a:p>
          <a:p>
            <a:pPr algn="ctr"/>
            <a:r>
              <a:rPr sz="1000">
                <a:solidFill>
                  <a:srgbClr val="1E293B"/>
                </a:solidFill>
                <a:latin typeface="Segoe UI" panose="020B0502040204020203"/>
              </a:rPr>
              <a:t>Initiates HTTPS connection to blocked website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52928" y="361188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017520" y="3063240"/>
            <a:ext cx="192024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2. TLS ClientHello
</a:t>
            </a:r>
          </a:p>
          <a:p>
            <a:pPr algn="ctr"/>
            <a:r>
              <a:rPr sz="1000">
                <a:solidFill>
                  <a:srgbClr val="1E293B"/>
                </a:solidFill>
                <a:latin typeface="Segoe UI" panose="020B0502040204020203"/>
              </a:rPr>
              <a:t>Transmits initial unencrypted handshake packet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56048" y="361188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20640" y="3063240"/>
            <a:ext cx="1920240" cy="1280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3. SNI EXTRACTION
</a:t>
            </a:r>
          </a:p>
          <a:p>
            <a:pPr algn="ctr"/>
            <a:r>
              <a:rPr sz="1000">
                <a:solidFill>
                  <a:srgbClr val="1E293B"/>
                </a:solidFill>
                <a:latin typeface="Segoe UI" panose="020B0502040204020203"/>
              </a:rPr>
              <a:t>ApexEye Client parses SNI domain in plaintext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59168" y="361188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23760" y="3063240"/>
            <a:ext cx="192024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 panose="020B0502040204020203"/>
              </a:rPr>
              <a:t>4. POLICY MATCH
</a:t>
            </a:r>
          </a:p>
          <a:p>
            <a:pPr algn="ctr"/>
            <a:r>
              <a:rPr sz="1000">
                <a:solidFill>
                  <a:srgbClr val="1E293B"/>
                </a:solidFill>
                <a:latin typeface="Segoe UI" panose="020B0502040204020203"/>
              </a:rPr>
              <a:t>Domain identified on local policy blocklist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62288" y="3611880"/>
            <a:ext cx="146304" cy="1828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326880" y="3063240"/>
            <a:ext cx="1920240" cy="12801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100" b="1">
                <a:solidFill>
                  <a:srgbClr val="DC2626"/>
                </a:solidFill>
                <a:latin typeface="Segoe UI" panose="020B0502040204020203"/>
              </a:rPr>
              <a:t>5. TLS FATAL ALERT
</a:t>
            </a:r>
          </a:p>
          <a:p>
            <a:pPr algn="ctr"/>
            <a:r>
              <a:rPr sz="1000">
                <a:solidFill>
                  <a:srgbClr val="1E293B"/>
                </a:solidFill>
                <a:latin typeface="Segoe UI" panose="020B0502040204020203"/>
              </a:rPr>
              <a:t>Immediate handshake abort; TCP connection rejected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09160"/>
            <a:ext cx="1072865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64592" rtlCol="0" anchor="ctr"/>
          <a:lstStyle/>
          <a:p>
            <a:pPr algn="ctr"/>
            <a:r>
              <a:rPr sz="1800" b="1">
                <a:solidFill>
                  <a:srgbClr val="1E3A8A"/>
                </a:solidFill>
                <a:latin typeface="Segoe UI" panose="020B0502040204020203"/>
              </a:rPr>
              <a:t>NO SSL DECRYPTION  •  NO FAKE ROOT CA  •  NO MITM PROXY
</a:t>
            </a:r>
          </a:p>
          <a:p>
            <a:pPr algn="ctr">
              <a:spcBef>
                <a:spcPts val="400"/>
              </a:spcBef>
            </a:pPr>
            <a:r>
              <a:rPr sz="1200">
                <a:solidFill>
                  <a:srgbClr val="1E293B"/>
                </a:solidFill>
                <a:latin typeface="Segoe UI" panose="020B0502040204020203"/>
              </a:rPr>
              <a:t>ApexEye reads the destination address on the outside of the envelope without ever opening the payload inside.
UDP 443 / QUIC is blocked natively via firewall to prevent browser protocol evasion.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10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5150" y="292608"/>
            <a:ext cx="384048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CENTRAL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ONE SCREEN. COMPLETE CONTROL.</a:t>
            </a:r>
          </a:p>
          <a:p>
            <a:pPr algn="ctr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Enterprise single-pane-of-glass dashboard consolidating fleet health, security telemetry, and remote 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100" y="1371600"/>
            <a:ext cx="11388725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17950" y="1508760"/>
            <a:ext cx="4754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40480" y="1600200"/>
            <a:ext cx="4510735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ACTIVE TELEMETRY (PC-LAB-01)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11680"/>
            <a:ext cx="2194560" cy="43891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Segoe UI" panose="020B0502040204020203"/>
              </a:rPr>
              <a:t>CPU Utilization: 28%
</a:t>
            </a:r>
            <a:r>
              <a:rPr sz="850">
                <a:solidFill>
                  <a:srgbClr val="475569"/>
                </a:solidFill>
                <a:latin typeface="Segoe UI" panose="020B0502040204020203"/>
              </a:rPr>
              <a:t>Optimal Load • 8 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011680"/>
            <a:ext cx="2194560" cy="43891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D4ED8"/>
                </a:solidFill>
                <a:latin typeface="Segoe UI" panose="020B0502040204020203"/>
              </a:rPr>
              <a:t>RAM: 42% (6.7/16 GB)
</a:t>
            </a:r>
            <a:r>
              <a:rPr sz="850">
                <a:solidFill>
                  <a:srgbClr val="475569"/>
                </a:solidFill>
                <a:latin typeface="Segoe UI" panose="020B0502040204020203"/>
              </a:rPr>
              <a:t>Stable • Free 9.3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14600"/>
            <a:ext cx="2194560" cy="43891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1E3A8A"/>
                </a:solidFill>
                <a:latin typeface="Segoe UI" panose="020B0502040204020203"/>
              </a:rPr>
              <a:t>Disk Storage: 54%
</a:t>
            </a:r>
            <a:r>
              <a:rPr sz="850">
                <a:solidFill>
                  <a:srgbClr val="475569"/>
                </a:solidFill>
                <a:latin typeface="Segoe UI" panose="020B0502040204020203"/>
              </a:rPr>
              <a:t>270/500 GB • Healthy I/O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14600"/>
            <a:ext cx="2194560" cy="43891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00" b="1">
                <a:solidFill>
                  <a:srgbClr val="0D9488"/>
                </a:solidFill>
                <a:latin typeface="Segoe UI" panose="020B0502040204020203"/>
              </a:rPr>
              <a:t>Network: 1.2 MB/s
</a:t>
            </a:r>
            <a:r>
              <a:rPr sz="850">
                <a:solidFill>
                  <a:srgbClr val="475569"/>
                </a:solidFill>
                <a:latin typeface="Segoe UI" panose="020B0502040204020203"/>
              </a:rPr>
              <a:t>Latency 2ms • Handshake 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1508760"/>
            <a:ext cx="26974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Segoe UI" panose="020B0502040204020203"/>
              </a:rPr>
              <a:t>FLEET STATUS
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D4ED8"/>
                </a:solidFill>
                <a:latin typeface="Segoe UI" panose="020B0502040204020203"/>
              </a:rPr>
              <a:t>● 14 TOTAL DEVICES — </a:t>
            </a:r>
            <a:r>
              <a:rPr sz="900">
                <a:solidFill>
                  <a:srgbClr val="475569"/>
                </a:solidFill>
                <a:latin typeface="Segoe UI" panose="020B0502040204020203"/>
              </a:rPr>
              <a:t>Enrolled in Master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D9488"/>
                </a:solidFill>
                <a:latin typeface="Segoe UI" panose="020B0502040204020203"/>
              </a:rPr>
              <a:t>● 12 ONLINE FLEET — </a:t>
            </a:r>
            <a:r>
              <a:rPr sz="900">
                <a:solidFill>
                  <a:srgbClr val="475569"/>
                </a:solidFill>
                <a:latin typeface="Segoe UI" panose="020B0502040204020203"/>
              </a:rPr>
              <a:t>Healthy Heartbeat (3s)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DC2626"/>
                </a:solidFill>
                <a:latin typeface="Segoe UI" panose="020B0502040204020203"/>
              </a:rPr>
              <a:t>● 2 OFFLINE — </a:t>
            </a:r>
            <a:r>
              <a:rPr sz="900">
                <a:solidFill>
                  <a:srgbClr val="475569"/>
                </a:solidFill>
                <a:latin typeface="Segoe UI" panose="020B0502040204020203"/>
              </a:rPr>
              <a:t>Disconnected Endpoint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25535" y="1508760"/>
            <a:ext cx="26974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Segoe UI" panose="020B0502040204020203"/>
              </a:rPr>
              <a:t>SECURITY &amp; SURVEILLANCE
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D97706"/>
                </a:solidFill>
                <a:latin typeface="Segoe UI" panose="020B0502040204020203"/>
              </a:rPr>
              <a:t>● 2 HIGH RISK — </a:t>
            </a:r>
            <a:r>
              <a:rPr sz="900">
                <a:solidFill>
                  <a:srgbClr val="475569"/>
                </a:solidFill>
                <a:latin typeface="Segoe UI" panose="020B0502040204020203"/>
              </a:rPr>
              <a:t>Threshold Exceeded (Spike)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2563EB"/>
                </a:solidFill>
                <a:latin typeface="Segoe UI" panose="020B0502040204020203"/>
              </a:rPr>
              <a:t>● 4 CCTV STREAMS — </a:t>
            </a:r>
            <a:r>
              <a:rPr sz="900">
                <a:solidFill>
                  <a:srgbClr val="475569"/>
                </a:solidFill>
                <a:latin typeface="Segoe UI" panose="020B0502040204020203"/>
              </a:rPr>
              <a:t>RTSP Feeds Live &amp; Verified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D9488"/>
                </a:solidFill>
                <a:latin typeface="Segoe UI" panose="020B0502040204020203"/>
              </a:rPr>
              <a:t>● 0 TAMPER EVENTS — </a:t>
            </a:r>
            <a:r>
              <a:rPr sz="900">
                <a:solidFill>
                  <a:srgbClr val="475569"/>
                </a:solidFill>
                <a:latin typeface="Segoe UI" panose="020B0502040204020203"/>
              </a:rPr>
              <a:t>Policy Engine Intact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154680"/>
            <a:ext cx="512064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1E3A8A"/>
                </a:solidFill>
                <a:latin typeface="Segoe UI" panose="020B0502040204020203"/>
              </a:rPr>
              <a:t>FLEET DEVICES OVERVIEW
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D9488"/>
                </a:solidFill>
                <a:latin typeface="Segoe UI" panose="020B0502040204020203"/>
              </a:rPr>
              <a:t>● PC-LAB-01 :  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Win 11 • Score: 92/100 (Optimal)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DC2626"/>
                </a:solidFill>
                <a:latin typeface="Segoe UI" panose="020B0502040204020203"/>
              </a:rPr>
              <a:t>● PC-LAB-02 :  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Win 10 • Score: 34/100 (Critical Spike)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D9488"/>
                </a:solidFill>
                <a:latin typeface="Segoe UI" panose="020B0502040204020203"/>
              </a:rPr>
              <a:t>● SERVER-LINUX-01 :  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Ubuntu • Score: 98/100 (Healthy)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D9488"/>
                </a:solidFill>
                <a:latin typeface="Segoe UI" panose="020B0502040204020203"/>
              </a:rPr>
              <a:t>● CCTV-GATE-01 :  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RTSP :554 • 100/100 (Active Feed)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D97706"/>
                </a:solidFill>
                <a:latin typeface="Segoe UI" panose="020B0502040204020203"/>
              </a:rPr>
              <a:t>● WORKSTATION-05 :  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Win 11 • Score: 78/100 (Warning)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54680"/>
            <a:ext cx="5150815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200" b="1">
                <a:solidFill>
                  <a:srgbClr val="1E3A8A"/>
                </a:solidFill>
                <a:latin typeface="Segoe UI" panose="020B0502040204020203"/>
              </a:rPr>
              <a:t>LIVE SECURITY ALERTS
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DC2626"/>
                </a:solidFill>
                <a:latin typeface="Segoe UI" panose="020B0502040204020203"/>
              </a:rPr>
              <a:t>🔴 CRITICAL: CPU Threshold 94% — </a:t>
            </a:r>
            <a:r>
              <a:rPr sz="950">
                <a:solidFill>
                  <a:srgbClr val="1E293B"/>
                </a:solidFill>
                <a:latin typeface="Segoe UI" panose="020B0502040204020203"/>
              </a:rPr>
              <a:t>PC-LAB-02 process spike detected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D97706"/>
                </a:solidFill>
                <a:latin typeface="Segoe UI" panose="020B0502040204020203"/>
              </a:rPr>
              <a:t>🟡 WARNING: RTSP Reconnect — </a:t>
            </a:r>
            <a:r>
              <a:rPr sz="950">
                <a:solidFill>
                  <a:srgbClr val="1E293B"/>
                </a:solidFill>
                <a:latin typeface="Segoe UI" panose="020B0502040204020203"/>
              </a:rPr>
              <a:t>CCTV-04 momentary packet drop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D4ED8"/>
                </a:solidFill>
                <a:latin typeface="Segoe UI" panose="020B0502040204020203"/>
              </a:rPr>
              <a:t>🔵 INFO: SNI Block Enforced — </a:t>
            </a:r>
            <a:r>
              <a:rPr sz="950">
                <a:solidFill>
                  <a:srgbClr val="1E293B"/>
                </a:solidFill>
                <a:latin typeface="Segoe UI" panose="020B0502040204020203"/>
              </a:rPr>
              <a:t>Blocked gambling.com handshake on PC-01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D9488"/>
                </a:solidFill>
                <a:latin typeface="Segoe UI" panose="020B0502040204020203"/>
              </a:rPr>
              <a:t>🟢 SUCCESS: Token Auth Restored — </a:t>
            </a:r>
            <a:r>
              <a:rPr sz="950">
                <a:solidFill>
                  <a:srgbClr val="1E293B"/>
                </a:solidFill>
                <a:latin typeface="Segoe UI" panose="020B0502040204020203"/>
              </a:rPr>
              <a:t>SERVER-01 auto-reconnected via UDP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440680"/>
            <a:ext cx="1645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000" b="1">
                <a:solidFill>
                  <a:srgbClr val="1D4ED8"/>
                </a:solidFill>
                <a:latin typeface="Segoe UI" panose="020B0502040204020203"/>
              </a:rPr>
              <a:t>Run Health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15184" y="5440680"/>
            <a:ext cx="1645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000" b="1">
                <a:solidFill>
                  <a:srgbClr val="1D4ED8"/>
                </a:solidFill>
                <a:latin typeface="Segoe UI" panose="020B0502040204020203"/>
              </a:rPr>
              <a:t>Connectivity 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5440680"/>
            <a:ext cx="1645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000" b="1">
                <a:solidFill>
                  <a:srgbClr val="1D4ED8"/>
                </a:solidFill>
                <a:latin typeface="Segoe UI" panose="020B0502040204020203"/>
              </a:rPr>
              <a:t>Restart 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8192" y="5440680"/>
            <a:ext cx="16459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000" b="1">
                <a:solidFill>
                  <a:srgbClr val="1D4ED8"/>
                </a:solidFill>
                <a:latin typeface="Segoe UI" panose="020B0502040204020203"/>
              </a:rPr>
              <a:t>Synchronize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54696" y="5440680"/>
            <a:ext cx="1645920" cy="502920"/>
          </a:xfrm>
          <a:prstGeom prst="roundRect">
            <a:avLst/>
          </a:prstGeom>
          <a:solidFill>
            <a:srgbClr val="1D4ED8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 panose="020B0502040204020203"/>
              </a:rPr>
              <a:t>Generate PDF 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5440680"/>
            <a:ext cx="1645920" cy="502920"/>
          </a:xfrm>
          <a:prstGeom prst="roundRect">
            <a:avLst/>
          </a:prstGeom>
          <a:solidFill>
            <a:srgbClr val="1D4ED8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 panose="020B0502040204020203"/>
              </a:rPr>
              <a:t>AI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11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HETEROGENEOUS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ONE PLATFORM. MULTIPLE INFRASTRUCTURE TYPES.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Bridging the gap between endpoints, host firewalls, surveillance streams, and cloud compute.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48840"/>
            <a:ext cx="3596335" cy="201168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4048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 panose="020B0502040204020203"/>
              </a:rPr>
              <a:t>APEXEYE
</a:t>
            </a:r>
            <a:r>
              <a:rPr sz="1400">
                <a:solidFill>
                  <a:srgbClr val="DBEAFE"/>
                </a:solidFill>
                <a:latin typeface="Segoe UI" panose="020B0502040204020203"/>
              </a:rPr>
              <a:t>Unified Intelligence 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377440"/>
            <a:ext cx="2743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463040"/>
            <a:ext cx="3291840" cy="1783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64592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ENDPOINTS
</a:t>
            </a:r>
          </a:p>
          <a:p>
            <a:pPr algn="ctr"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Segoe UI" panose="020B0502040204020203"/>
              </a:rPr>
              <a:t>Windows 10/11 &amp; Linux
Workstations and Enterprise Servers
Hardware telemetry, health &amp; apps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4015" y="2377440"/>
            <a:ext cx="2743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68335" y="1463040"/>
            <a:ext cx="3291840" cy="1783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64592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SECURITY
</a:t>
            </a:r>
          </a:p>
          <a:p>
            <a:pPr algn="ctr"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Segoe UI" panose="020B0502040204020203"/>
              </a:rPr>
              <a:t>Host Firewall &amp; Zero-MITM Policy
TLS SNI Enforcement at Handshake
Local loopback blocking &amp; tamper 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840480"/>
            <a:ext cx="2743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329184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64592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SURVEILLANCE
</a:t>
            </a:r>
          </a:p>
          <a:p>
            <a:pPr algn="ctr"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Segoe UI" panose="020B0502040204020203"/>
              </a:rPr>
              <a:t>CCTV &amp; IP Cameras
RTSP stream liveness &amp; continuity
Ping latency, FPS &amp; storage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4015" y="3840480"/>
            <a:ext cx="274320" cy="228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68335" y="3520440"/>
            <a:ext cx="329184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64592" rtlCol="0" anchor="ctr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 panose="020B0502040204020203"/>
              </a:rPr>
              <a:t>CLOUD COMPUTE
</a:t>
            </a:r>
          </a:p>
          <a:p>
            <a:pPr algn="ctr">
              <a:spcBef>
                <a:spcPts val="500"/>
              </a:spcBef>
            </a:pPr>
            <a:r>
              <a:rPr sz="1100">
                <a:solidFill>
                  <a:srgbClr val="1E293B"/>
                </a:solidFill>
                <a:latin typeface="Segoe UI" panose="020B0502040204020203"/>
              </a:rPr>
              <a:t>AWS EC2 Instances &amp; Workloads
CloudWatch metric ingestion &amp; sync
Multi-region compute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596128"/>
            <a:ext cx="10728655" cy="62179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sz="1450" b="1">
                <a:solidFill>
                  <a:srgbClr val="1D4ED8"/>
                </a:solidFill>
                <a:latin typeface="Segoe UI" panose="020B0502040204020203"/>
              </a:rPr>
              <a:t>ONE CENTRALIZED VIEW FOR MULTI-INFRASTRUCTURE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12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DIAGNOSTIC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FROM MONITORING DATA TO DECISIONS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Automated synthesis of raw operational telemetry into natural language executive summaries and PDF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42062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645920"/>
            <a:ext cx="3840480" cy="4114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300" b="1">
                <a:solidFill>
                  <a:srgbClr val="1D4ED8"/>
                </a:solidFill>
                <a:latin typeface="Segoe UI" panose="020B0502040204020203"/>
              </a:rPr>
              <a:t>DECISION SYNTHESIS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40280"/>
            <a:ext cx="384048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RAW SIGNALS
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CPU • RAM • Disk • Network • Firewall • CCTV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743200" y="2926080"/>
            <a:ext cx="137160" cy="128016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3063240"/>
            <a:ext cx="384048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APEXEYE ANALYSIS
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Anomaly correlation &amp; threshold scoring engine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743200" y="3749040"/>
            <a:ext cx="137160" cy="128016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384048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D4ED8"/>
                </a:solidFill>
                <a:latin typeface="Segoe UI" panose="020B0502040204020203"/>
              </a:rPr>
              <a:t>AI SUMMARY
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Automated natural language diagnostic narrative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743200" y="4572000"/>
            <a:ext cx="137160" cy="128016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4709160"/>
            <a:ext cx="384048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RECOMMENDATIONS
</a:t>
            </a:r>
            <a:r>
              <a:rPr sz="1000">
                <a:solidFill>
                  <a:srgbClr val="1E293B"/>
                </a:solidFill>
                <a:latin typeface="Segoe UI" panose="020B0502040204020203"/>
              </a:rPr>
              <a:t>RAM expansion? Storage fix? Security rule adjustment?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1463040"/>
            <a:ext cx="6263640" cy="4480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94960" y="1645920"/>
            <a:ext cx="5861304" cy="4572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APEXEYE EXECUTIVE AUDIT REPORT</a:t>
            </a:r>
            <a:r>
              <a:rPr sz="1150">
                <a:solidFill>
                  <a:srgbClr val="DBEAFE"/>
                </a:solidFill>
                <a:latin typeface="Segoe UI" panose="020B0502040204020203"/>
              </a:rPr>
              <a:t>  (Automated PDF Export)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2240280"/>
            <a:ext cx="5861304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1. FLEET HEALTH OVERVIEW
</a:t>
            </a:r>
            <a:r>
              <a:rPr sz="1050">
                <a:solidFill>
                  <a:srgbClr val="1E293B"/>
                </a:solidFill>
                <a:latin typeface="Segoe UI" panose="020B0502040204020203"/>
              </a:rPr>
              <a:t>14 Devices Monitored • 12 Healthy • Overall Reliability Index: 88.4%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2971800"/>
            <a:ext cx="5861304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150" b="1">
                <a:solidFill>
                  <a:srgbClr val="1D4ED8"/>
                </a:solidFill>
                <a:latin typeface="Segoe UI" panose="020B0502040204020203"/>
              </a:rPr>
              <a:t>2. AI DIAGNOSTIC NARRATIVE
</a:t>
            </a:r>
            <a:r>
              <a:rPr sz="1050">
                <a:solidFill>
                  <a:srgbClr val="1E293B"/>
                </a:solidFill>
                <a:latin typeface="Segoe UI" panose="020B0502040204020203"/>
              </a:rPr>
              <a:t>“PC-LAB-02 exhibited 94% CPU spikes between 14:00-14:45 caused by unoptimized build worker threads. Memory paging increased by 40%.”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3977639"/>
            <a:ext cx="5861304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3. ACTIONABLE REMEDIATION
</a:t>
            </a:r>
            <a:r>
              <a:rPr sz="1050">
                <a:solidFill>
                  <a:srgbClr val="1E293B"/>
                </a:solidFill>
                <a:latin typeface="Segoe UI" panose="020B0502040204020203"/>
              </a:rPr>
              <a:t>• Hardware: Expand RAM from 8GB to 16GB on PC-LAB-02.
• Security: Restrict UDP 443 outbound to prevent bypass attempts.
• Storage: Purge temp directories on SERVER-01 (92% full).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349240"/>
            <a:ext cx="58613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  <a:latin typeface="Segoe UI" panose="020B0502040204020203"/>
              </a:rPr>
              <a:t>Certified Engine Signature: SHA-256 Validated  •  ReportLab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13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"/>
            <a:ext cx="310896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36576" rtlCol="0" anchor="ctr"/>
          <a:lstStyle/>
          <a:p>
            <a:pPr algn="l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● </a:t>
            </a:r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STRATEGIC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8755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 panose="020B0502040204020203"/>
              </a:rPr>
              <a:t>WHY CHOOSE APEXEYE?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475569"/>
                </a:solidFill>
                <a:latin typeface="Segoe UI" panose="020B0502040204020203"/>
              </a:rPr>
              <a:t>Consolidating visibility, security enforcement, and privacy into a unified enterprise standard.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68580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>
                <a:solidFill>
                  <a:srgbClr val="475569"/>
                </a:solidFill>
                <a:latin typeface="Segoe UI" panose="020B0502040204020203"/>
              </a:rPr>
              <a:t>ApexEye — Centralized Device Monitoring &amp;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19088"/>
            <a:ext cx="3687775" cy="27432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/>
            <a:r>
              <a:rPr sz="1100" b="1">
                <a:solidFill>
                  <a:srgbClr val="1D4ED8"/>
                </a:solidFill>
                <a:latin typeface="Segoe UI" panose="020B0502040204020203"/>
              </a:rPr>
              <a:t>GLS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" y="1618488"/>
            <a:ext cx="3209544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250" b="1">
                <a:solidFill>
                  <a:srgbClr val="1D4ED8"/>
                </a:solidFill>
                <a:latin typeface="Segoe UI" panose="020B0502040204020203"/>
              </a:rPr>
              <a:t>CENTRALIZED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3154680" cy="1097280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🏢 Unified Fleet Oversight
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  <a:latin typeface="Segoe UI" panose="020B0502040204020203"/>
              </a:rPr>
              <a:t>One authoritative Master server replaces multiple fragmented dashboards across endpoints, security, CCTV, and AWS cloud.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5087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89704" y="1618488"/>
            <a:ext cx="3209544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250" b="1">
                <a:solidFill>
                  <a:srgbClr val="1D4ED8"/>
                </a:solidFill>
                <a:latin typeface="Segoe UI" panose="020B0502040204020203"/>
              </a:rPr>
              <a:t>PRIVACY-FIRST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011680"/>
            <a:ext cx="3154680" cy="1097280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🔒 Zero Spyware Liability
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  <a:latin typeface="Segoe UI" panose="020B0502040204020203"/>
              </a:rPr>
              <a:t>Engineered with zero keystroke recording, zero screen scraping, zero clipboard collection, and zero private URL snooping.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5087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38160" y="1618488"/>
            <a:ext cx="3209544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250" b="1">
                <a:solidFill>
                  <a:srgbClr val="1D4ED8"/>
                </a:solidFill>
                <a:latin typeface="Segoe UI" panose="020B0502040204020203"/>
              </a:rPr>
              <a:t>LIGHTWEIGHT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011680"/>
            <a:ext cx="3154680" cy="1097280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⚡ Pure User-Space Agent
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  <a:latin typeface="Segoe UI" panose="020B0502040204020203"/>
              </a:rPr>
              <a:t>Operates cleanly with &lt;25MB footprint; requires zero kernel drivers, eliminating CrowdStrike-style BSOD crash risks.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2900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8" y="3538728"/>
            <a:ext cx="3209544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250" b="1">
                <a:solidFill>
                  <a:srgbClr val="1D4ED8"/>
                </a:solidFill>
                <a:latin typeface="Segoe UI" panose="020B0502040204020203"/>
              </a:rPr>
              <a:t>CROSS-PLATFORM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31920"/>
            <a:ext cx="3154680" cy="1097280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🔄 Windows + Linux Parity
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  <a:latin typeface="Segoe UI" panose="020B0502040204020203"/>
              </a:rPr>
              <a:t>Consistent telemetry harvesting, application event grouping, and firewall enforcement across mixed OS environments.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342900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89704" y="3538728"/>
            <a:ext cx="3209544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250" b="1">
                <a:solidFill>
                  <a:srgbClr val="1D4ED8"/>
                </a:solidFill>
                <a:latin typeface="Segoe UI" panose="020B0502040204020203"/>
              </a:rPr>
              <a:t>SECURITY HARDENED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931920"/>
            <a:ext cx="3154680" cy="1097280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🛡️ Zero-MITM Enforcement
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  <a:latin typeface="Segoe UI" panose="020B0502040204020203"/>
              </a:rPr>
              <a:t>Native TLS SNI packet inspection and UDP 443 QUIC filtering without fake root CA injection or payload decryption.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342900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38160" y="3538728"/>
            <a:ext cx="3209544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ctr"/>
          <a:lstStyle/>
          <a:p>
            <a:pPr algn="ctr"/>
            <a:r>
              <a:rPr sz="1250" b="1">
                <a:solidFill>
                  <a:srgbClr val="1D4ED8"/>
                </a:solidFill>
                <a:latin typeface="Segoe UI" panose="020B0502040204020203"/>
              </a:rPr>
              <a:t>ACTIONABLE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3931920"/>
            <a:ext cx="3154680" cy="1097280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 panose="020B0502040204020203"/>
              </a:rPr>
              <a:t>📈 End-to-End Operational Cycle
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1E293B"/>
                </a:solidFill>
                <a:latin typeface="Segoe UI" panose="020B0502040204020203"/>
              </a:rPr>
              <a:t>Seamless closed-loop execution: Monitor signals ➔ Analyze health ➔ Manage policies ➔ Report to executives.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40680"/>
            <a:ext cx="10728655" cy="71323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/>
            <a:r>
              <a:rPr sz="1800" b="1">
                <a:solidFill>
                  <a:srgbClr val="1D4ED8"/>
                </a:solidFill>
                <a:latin typeface="Segoe UI" panose="020B0502040204020203"/>
              </a:rPr>
              <a:t>VISIBILITY  ➔  SECURITY  ➔ 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44200" y="292608"/>
            <a:ext cx="8229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36576" rtlCol="0" anchor="ctr"/>
          <a:lstStyle/>
          <a:p>
            <a:pPr algn="ctr"/>
            <a:r>
              <a:rPr sz="1200" b="1">
                <a:solidFill>
                  <a:srgbClr val="1D4ED8"/>
                </a:solidFill>
                <a:latin typeface="Segoe UI" panose="020B0502040204020203"/>
              </a:rPr>
              <a:t>14 /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94360"/>
            <a:ext cx="10728655" cy="5623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634463" y="777240"/>
            <a:ext cx="6922770" cy="1003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D4ED8"/>
                </a:solidFill>
                <a:latin typeface="Segoe UI" panose="020B0502040204020203"/>
              </a:rPr>
              <a:t>APEXEYE</a:t>
            </a:r>
          </a:p>
          <a:p>
            <a:pPr algn="ctr">
              <a:spcBef>
                <a:spcPts val="400"/>
              </a:spcBef>
            </a:pPr>
            <a:r>
              <a:rPr sz="2000" b="1">
                <a:solidFill>
                  <a:srgbClr val="1E3A8A"/>
                </a:solidFill>
                <a:latin typeface="Segoe UI" panose="020B0502040204020203"/>
              </a:rPr>
              <a:t>Centralized Device Monitoring and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76272"/>
            <a:ext cx="6705295" cy="4754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82296" rtlCol="0" anchor="ctr"/>
          <a:lstStyle/>
          <a:p>
            <a:pPr algn="ctr"/>
            <a:r>
              <a:rPr sz="1450" b="1">
                <a:solidFill>
                  <a:srgbClr val="1D4ED8"/>
                </a:solidFill>
                <a:latin typeface="Segoe UI" panose="020B0502040204020203"/>
              </a:rPr>
              <a:t>MONITOR  ➔  ANALYZE  ➔  MANAGE  ➔ 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7640" y="2761615"/>
            <a:ext cx="9373235" cy="130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sz="6600" b="1">
                <a:solidFill>
                  <a:srgbClr val="00B0F0"/>
                </a:solidFill>
                <a:latin typeface="Segoe UI" panose="020B0502040204020203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4526280"/>
            <a:ext cx="8869680" cy="2743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11580" y="4297680"/>
            <a:ext cx="1600200" cy="6583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Segoe UI" panose="020B0502040204020203"/>
              </a:rPr>
              <a:t>Windows 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0380" y="4297680"/>
            <a:ext cx="1600200" cy="6583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Segoe UI" panose="020B0502040204020203"/>
              </a:rPr>
              <a:t>Linux 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3830" y="4187952"/>
            <a:ext cx="2103120" cy="749808"/>
          </a:xfrm>
          <a:prstGeom prst="roundRect">
            <a:avLst/>
          </a:prstGeom>
          <a:solidFill>
            <a:srgbClr val="1D4ED8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6459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 panose="020B0502040204020203"/>
              </a:rPr>
              <a:t>APEXEYE MASTER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0940" y="4297680"/>
            <a:ext cx="1600200" cy="6583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Segoe UI" panose="020B0502040204020203"/>
              </a:rPr>
              <a:t>CCTV Surveillance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9740" y="4297680"/>
            <a:ext cx="1600200" cy="65836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/>
            <a:r>
              <a:rPr sz="1100" b="1">
                <a:solidFill>
                  <a:srgbClr val="1E3A8A"/>
                </a:solidFill>
                <a:latin typeface="Segoe UI" panose="020B0502040204020203"/>
              </a:rPr>
              <a:t>AWS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440680"/>
            <a:ext cx="8534095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sz="1250" b="1">
                <a:solidFill>
                  <a:srgbClr val="1D4ED8"/>
                </a:solidFill>
                <a:latin typeface="Segoe UI" panose="020B0502040204020203"/>
              </a:rPr>
              <a:t>PROJECT BY:  </a:t>
            </a:r>
            <a:r>
              <a:rPr sz="1250" b="1">
                <a:solidFill>
                  <a:srgbClr val="0F172A"/>
                </a:solidFill>
                <a:latin typeface="Segoe UI" panose="020B0502040204020203"/>
              </a:rPr>
              <a:t>Darsh — 202302626010096   |   Vansh — 202302626010147   •   GLS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2233</Words>
  <Application>Microsoft Office PowerPoint</Application>
  <PresentationFormat>Widescreen</PresentationFormat>
  <Paragraphs>374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 Parmar</dc:creator>
  <dc:description>generated using python-pptx</dc:description>
  <cp:lastModifiedBy>Darsh Parmar</cp:lastModifiedBy>
  <cp:revision>5</cp:revision>
  <dcterms:created xsi:type="dcterms:W3CDTF">2013-01-27T09:14:00Z</dcterms:created>
  <dcterms:modified xsi:type="dcterms:W3CDTF">2026-09-12T11:32:17Z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83D1371648D44F9F934BF6F92E3FE5D0_13</vt:lpwstr>
  </property>
</Properties>
</file>